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B60C0CAE-F318-6C02-0CE5-2A93C616E5D3}">
          <p14:sldIdLst>
            <p14:sldId id="256"/>
          </p14:sldIdLst>
        </p14:section>
        <p14:section name="Introduction" id="{3ACE2B22-A635-822C-8837-3DA36BE4AFCC}">
          <p14:sldIdLst>
            <p14:sldId id="257"/>
          </p14:sldIdLst>
        </p14:section>
        <p14:section name="Theory" id="{B0485252-4660-31A2-14E5-35648A17EA8D}">
          <p14:sldIdLst>
            <p14:sldId id="258"/>
          </p14:sldIdLst>
        </p14:section>
        <p14:section name="Design" id="{BCA6F0A6-1AB9-4053-ED19-B1F3E25BF88E}">
          <p14:sldIdLst>
            <p14:sldId id="259"/>
          </p14:sldIdLst>
        </p14:section>
        <p14:section name="Results" id="{34857D39-54DF-0963-2797-D4643477ADFD}">
          <p14:sldIdLst>
            <p14:sldId id="260"/>
          </p14:sldIdLst>
        </p14:section>
        <p14:section name="Conclusion" id="{61F5EF06-2763-FE64-6874-9D151A4DEBDB}">
          <p14:sldIdLst>
            <p14:sldId id="262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8722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is not stated in the source files; fill in the blank on this slide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circuit image is a Logisim-style recreation. Replace it with a screenshot of your own .circ file if you have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Simulation frames are Logisim-style recreations. Replace with real screenshots from your Logisim project if required by the instructor.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treet light art" descr="stre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411480"/>
            <a:ext cx="3657600" cy="19842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DIGITAL DESIGN &amp; COMPUTER ARCHITECTURE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91440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Design and Simulation of an Automatic Street Light Control System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2402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Using Combinational Logic</a:t>
            </a:r>
            <a:endParaRPr lang="en-US" sz="1600" dirty="0"/>
          </a:p>
        </p:txBody>
      </p:sp>
      <p:sp>
        <p:nvSpPr>
          <p:cNvPr id="6" name="Team card"/>
          <p:cNvSpPr/>
          <p:nvPr/>
        </p:nvSpPr>
        <p:spPr>
          <a:xfrm>
            <a:off x="457200" y="2926080"/>
            <a:ext cx="822960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3017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TEAM MEMBERS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273552"/>
          <a:ext cx="5120640" cy="123444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 Number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Srishouri Thottempudi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2620030041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Praveen Kumar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2620030030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Pravalika Bodapati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2620030029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Pujitha Vemulapalli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2620030051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6126480" y="31546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SECTION</a:t>
            </a:r>
            <a:endParaRPr lang="en-US" sz="10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CSE – Section: ______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Department of CSE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Introduction &amp; Objective</a:t>
            </a:r>
            <a:endParaRPr lang="en-US" sz="26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1"/>
                </a:solidFill>
              </a:rPr>
              <a:t>Why automate street lighting with digital logic?</a:t>
            </a:r>
            <a:endParaRPr lang="en-US" sz="1200" dirty="0"/>
          </a:p>
        </p:txBody>
      </p:sp>
      <p:sp>
        <p:nvSpPr>
          <p:cNvPr id="4" name="Intro card"/>
          <p:cNvSpPr/>
          <p:nvPr/>
        </p:nvSpPr>
        <p:spPr>
          <a:xfrm>
            <a:off x="457200" y="1143000"/>
            <a:ext cx="4937760" cy="3520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INTRODUCTION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Conventional street lights run continuously or rely on manual switching, wasting energy and reducing safety.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This project is a smart digital controller built only from combinational logic gates. It reads five inputs and decides whether the light should be ON: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Day/Night status (N)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Vehicle presence (V)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Pedestrian presence (P)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Emergency condition (E)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Manual override (M)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623560" y="10972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OBJECTIVES</a:t>
            </a:r>
            <a:endParaRPr lang="en-US" sz="1100" dirty="0"/>
          </a:p>
        </p:txBody>
      </p:sp>
      <p:sp>
        <p:nvSpPr>
          <p:cNvPr id="7" name="Objective 1"/>
          <p:cNvSpPr/>
          <p:nvPr/>
        </p:nvSpPr>
        <p:spPr>
          <a:xfrm>
            <a:off x="5623560" y="1371600"/>
            <a:ext cx="30632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15000" y="14447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14173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Save energy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Light only when needed; zone-based control avoids power wastage.</a:t>
            </a:r>
            <a:endParaRPr lang="en-US" sz="1200" dirty="0"/>
          </a:p>
        </p:txBody>
      </p:sp>
      <p:sp>
        <p:nvSpPr>
          <p:cNvPr id="10" name="Objective 2"/>
          <p:cNvSpPr/>
          <p:nvPr/>
        </p:nvSpPr>
        <p:spPr>
          <a:xfrm>
            <a:off x="5623560" y="2194560"/>
            <a:ext cx="30632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15000" y="226771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22402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Improve safety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Emergency has priority; people and vehicles trigger lighting.</a:t>
            </a:r>
            <a:endParaRPr lang="en-US" sz="1200" dirty="0"/>
          </a:p>
        </p:txBody>
      </p:sp>
      <p:sp>
        <p:nvSpPr>
          <p:cNvPr id="13" name="Objective 3"/>
          <p:cNvSpPr/>
          <p:nvPr/>
        </p:nvSpPr>
        <p:spPr>
          <a:xfrm>
            <a:off x="5623560" y="3017520"/>
            <a:ext cx="30632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715000" y="30906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30632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Automate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Remove manual intervention using condition-based logic.</a:t>
            </a:r>
            <a:endParaRPr lang="en-US" sz="1200" dirty="0"/>
          </a:p>
        </p:txBody>
      </p:sp>
      <p:sp>
        <p:nvSpPr>
          <p:cNvPr id="16" name="Objective 4"/>
          <p:cNvSpPr/>
          <p:nvPr/>
        </p:nvSpPr>
        <p:spPr>
          <a:xfrm>
            <a:off x="5623560" y="3840480"/>
            <a:ext cx="30632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715000" y="391363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0" y="38862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Build &amp; verify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Truth table → K-Map → gates, tested in Logisim.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Theory &amp; Logic Circuit</a:t>
            </a:r>
            <a:endParaRPr lang="en-US" sz="26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1"/>
                </a:solidFill>
              </a:rPr>
              <a:t>Boolean model, gates used and the circuit diagram</a:t>
            </a:r>
            <a:endParaRPr lang="en-US" sz="1200" dirty="0"/>
          </a:p>
        </p:txBody>
      </p:sp>
      <p:sp>
        <p:nvSpPr>
          <p:cNvPr id="4" name="Concept card"/>
          <p:cNvSpPr/>
          <p:nvPr/>
        </p:nvSpPr>
        <p:spPr>
          <a:xfrm>
            <a:off x="457200" y="1143000"/>
            <a:ext cx="32918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BASIC CONCEPT</a:t>
            </a:r>
            <a:endParaRPr lang="en-US" sz="1000" dirty="0"/>
          </a:p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Combinational logic: output depends only on the present inputs (no memory).</a:t>
            </a:r>
            <a:endParaRPr lang="en-US" sz="1000" dirty="0"/>
          </a:p>
        </p:txBody>
      </p:sp>
      <p:sp>
        <p:nvSpPr>
          <p:cNvPr id="6" name="Equation card"/>
          <p:cNvSpPr/>
          <p:nvPr/>
        </p:nvSpPr>
        <p:spPr>
          <a:xfrm>
            <a:off x="457200" y="2286000"/>
            <a:ext cx="32918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2860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/>
                </a:solidFill>
              </a:rPr>
              <a:t>F = E + N(V + P + M)</a:t>
            </a:r>
            <a:endParaRPr lang="en-US" sz="2000" dirty="0"/>
          </a:p>
        </p:txBody>
      </p:sp>
      <p:sp>
        <p:nvSpPr>
          <p:cNvPr id="8" name="Gates card"/>
          <p:cNvSpPr/>
          <p:nvPr/>
        </p:nvSpPr>
        <p:spPr>
          <a:xfrm>
            <a:off x="457200" y="3108960"/>
            <a:ext cx="32918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315468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b="1" dirty="0">
                <a:solidFill>
                  <a:schemeClr val="accent1"/>
                </a:solidFill>
              </a:rPr>
              <a:t>GATES USED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OR (×2): V + P + M → activity request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AND (×1): N · (activity) → night demand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OR (×1): E + night demand → LIGHT ON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tx2"/>
                </a:solidFill>
              </a:rPr>
              <a:t>Emergency overrides everything; at night any activity or manual request turns the light ON.</a:t>
            </a:r>
            <a:endParaRPr lang="en-US" sz="1100" dirty="0"/>
          </a:p>
        </p:txBody>
      </p:sp>
      <p:sp>
        <p:nvSpPr>
          <p:cNvPr id="10" name="Diagram card"/>
          <p:cNvSpPr/>
          <p:nvPr/>
        </p:nvSpPr>
        <p:spPr>
          <a:xfrm>
            <a:off x="3931920" y="1143000"/>
            <a:ext cx="4754880" cy="3520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1" name="Diagram backing"/>
          <p:cNvSpPr/>
          <p:nvPr/>
        </p:nvSpPr>
        <p:spPr>
          <a:xfrm>
            <a:off x="4023360" y="1280160"/>
            <a:ext cx="4572000" cy="242316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069080" y="376732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62A1F7D-FEA7-A6DE-E9CC-64075C370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2412" y="1498641"/>
            <a:ext cx="3793896" cy="20620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Circuit Design in Logisim</a:t>
            </a:r>
            <a:endParaRPr lang="en-US" sz="26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1"/>
                </a:solidFill>
              </a:rPr>
              <a:t>Gate-level implementation and working</a:t>
            </a:r>
            <a:endParaRPr lang="en-US" sz="1200" dirty="0"/>
          </a:p>
        </p:txBody>
      </p:sp>
      <p:sp>
        <p:nvSpPr>
          <p:cNvPr id="4" name="Logisim canvas"/>
          <p:cNvSpPr/>
          <p:nvPr/>
        </p:nvSpPr>
        <p:spPr>
          <a:xfrm>
            <a:off x="457200" y="1143000"/>
            <a:ext cx="5212080" cy="35204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Working card"/>
          <p:cNvSpPr/>
          <p:nvPr/>
        </p:nvSpPr>
        <p:spPr>
          <a:xfrm>
            <a:off x="5852160" y="1143000"/>
            <a:ext cx="2834640" cy="352044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89320" y="1234440"/>
            <a:ext cx="26060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000" b="1" dirty="0">
                <a:solidFill>
                  <a:schemeClr val="accent1"/>
                </a:solidFill>
              </a:rPr>
              <a:t>HOW IT WORKS</a:t>
            </a:r>
            <a:endParaRPr lang="en-US" sz="1150" dirty="0"/>
          </a:p>
          <a:p>
            <a:pPr marL="203200" indent="-2032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chemeClr val="tx1"/>
                </a:solidFill>
              </a:rPr>
              <a:t>Five input pins (N, V, P, E, M) are toggled with the poke tool.</a:t>
            </a:r>
            <a:endParaRPr lang="en-US" sz="1150" dirty="0"/>
          </a:p>
          <a:p>
            <a:pPr marL="203200" indent="-2032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chemeClr val="tx1"/>
                </a:solidFill>
              </a:rPr>
              <a:t>First OR gate combines V and P; second OR adds M.</a:t>
            </a:r>
            <a:endParaRPr lang="en-US" sz="1150" dirty="0"/>
          </a:p>
          <a:p>
            <a:pPr marL="203200" indent="-2032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chemeClr val="tx1"/>
                </a:solidFill>
              </a:rPr>
              <a:t>AND gate passes this request only when N = 1 (night).</a:t>
            </a:r>
            <a:endParaRPr lang="en-US" sz="1150" dirty="0"/>
          </a:p>
          <a:p>
            <a:pPr marL="203200" indent="-2032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chemeClr val="tx1"/>
                </a:solidFill>
              </a:rPr>
              <a:t>Final OR gate adds E, so emergency always lights the road.</a:t>
            </a:r>
            <a:endParaRPr lang="en-US" sz="1150" dirty="0"/>
          </a:p>
          <a:p>
            <a:pPr marL="203200" indent="-2032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chemeClr val="tx1"/>
                </a:solidFill>
              </a:rPr>
              <a:t>Output LED F lights red when F = 1.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DF0BCFB-E4F9-DAA7-701D-4F1498A717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67680"/>
            <a:ext cx="4952845" cy="250796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Simulation Results</a:t>
            </a:r>
            <a:endParaRPr lang="en-US" sz="26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1"/>
                </a:solidFill>
              </a:rPr>
              <a:t>Logisim test cases and truth table (N V P E M → F)</a:t>
            </a:r>
            <a:endParaRPr lang="en-US" sz="1200" dirty="0"/>
          </a:p>
        </p:txBody>
      </p:sp>
      <p:sp>
        <p:nvSpPr>
          <p:cNvPr id="5" name="Sim frame 1"/>
          <p:cNvSpPr/>
          <p:nvPr/>
        </p:nvSpPr>
        <p:spPr>
          <a:xfrm>
            <a:off x="502920" y="1188720"/>
            <a:ext cx="23317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2313432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/>
                </a:solidFill>
              </a:rPr>
              <a:t>Day, no activity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accent1"/>
                </a:solidFill>
              </a:rPr>
              <a:t>0 0 0 0 0 → 0 (OFF)</a:t>
            </a:r>
            <a:endParaRPr lang="en-US" sz="1050" dirty="0"/>
          </a:p>
        </p:txBody>
      </p:sp>
      <p:sp>
        <p:nvSpPr>
          <p:cNvPr id="8" name="Sim card 2"/>
          <p:cNvSpPr/>
          <p:nvPr/>
        </p:nvSpPr>
        <p:spPr>
          <a:xfrm>
            <a:off x="2971800" y="1143000"/>
            <a:ext cx="24231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9" name="Sim frame 2"/>
          <p:cNvSpPr/>
          <p:nvPr/>
        </p:nvSpPr>
        <p:spPr>
          <a:xfrm>
            <a:off x="3017520" y="1188720"/>
            <a:ext cx="23317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063240" y="2313432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/>
                </a:solidFill>
              </a:rPr>
              <a:t>Night + vehicle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accent1"/>
                </a:solidFill>
              </a:rPr>
              <a:t>1 1 0 0 0 → 1 (ON)</a:t>
            </a:r>
            <a:endParaRPr lang="en-US" sz="1050" dirty="0"/>
          </a:p>
        </p:txBody>
      </p:sp>
      <p:sp>
        <p:nvSpPr>
          <p:cNvPr id="12" name="Sim card 3"/>
          <p:cNvSpPr/>
          <p:nvPr/>
        </p:nvSpPr>
        <p:spPr>
          <a:xfrm>
            <a:off x="457200" y="2926080"/>
            <a:ext cx="24231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3" name="Sim frame 3"/>
          <p:cNvSpPr/>
          <p:nvPr/>
        </p:nvSpPr>
        <p:spPr>
          <a:xfrm>
            <a:off x="502920" y="2971800"/>
            <a:ext cx="23317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548640" y="4096512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/>
                </a:solidFill>
              </a:rPr>
              <a:t>Night + pedestrian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accent1"/>
                </a:solidFill>
              </a:rPr>
              <a:t>1 0 1 0 0 → 1 (ON)</a:t>
            </a:r>
            <a:endParaRPr lang="en-US" sz="1050" dirty="0"/>
          </a:p>
        </p:txBody>
      </p:sp>
      <p:sp>
        <p:nvSpPr>
          <p:cNvPr id="16" name="Sim card 4"/>
          <p:cNvSpPr/>
          <p:nvPr/>
        </p:nvSpPr>
        <p:spPr>
          <a:xfrm>
            <a:off x="2971800" y="2926080"/>
            <a:ext cx="24231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7" name="Sim frame 4"/>
          <p:cNvSpPr/>
          <p:nvPr/>
        </p:nvSpPr>
        <p:spPr>
          <a:xfrm>
            <a:off x="3017520" y="2971800"/>
            <a:ext cx="23317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3063240" y="4096512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/>
                </a:solidFill>
              </a:rPr>
              <a:t>Emergency (day)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accent1"/>
                </a:solidFill>
              </a:rPr>
              <a:t>0 0 0 1 0 → 1 (ON)</a:t>
            </a:r>
            <a:endParaRPr lang="en-US" sz="1050" dirty="0"/>
          </a:p>
        </p:txBody>
      </p:sp>
      <p:sp>
        <p:nvSpPr>
          <p:cNvPr id="23" name="Text 16"/>
          <p:cNvSpPr txBox="1"/>
          <p:nvPr/>
        </p:nvSpPr>
        <p:spPr>
          <a:xfrm>
            <a:off x="5669280" y="39319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3805124-FD8A-5401-2DA2-307867BE06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802" y="1244990"/>
            <a:ext cx="1988718" cy="98473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44E97CA-70AC-D30D-5D65-C75871C0AF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" y="2907717"/>
            <a:ext cx="2331720" cy="114307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968D8B8-B592-7FDF-9AA3-21533FD247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3088" y="3006663"/>
            <a:ext cx="1820584" cy="993837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D90F11A-3E79-7B8B-491B-353F292E9E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795" y="1184714"/>
            <a:ext cx="2022125" cy="11012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17DF25-CE02-A80A-AC6C-51FC5AB1CA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718" y="1005704"/>
            <a:ext cx="5814564" cy="3132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535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Conclusion &amp; Applications</a:t>
            </a:r>
            <a:endParaRPr lang="en-US" sz="26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1"/>
                </a:solidFill>
              </a:rPr>
              <a:t>Outcome, uses and future scope</a:t>
            </a:r>
            <a:endParaRPr lang="en-US" sz="1200" dirty="0"/>
          </a:p>
        </p:txBody>
      </p:sp>
      <p:sp>
        <p:nvSpPr>
          <p:cNvPr id="4" name="OUTCOME card"/>
          <p:cNvSpPr/>
          <p:nvPr/>
        </p:nvSpPr>
        <p:spPr>
          <a:xfrm>
            <a:off x="457200" y="1143000"/>
            <a:ext cx="2651760" cy="292608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34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OUTCOME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554480"/>
            <a:ext cx="23774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Working controller built from OR/AND gates using F = E + N(V + P + M).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Truth table and K-Map simplification reduced the logic.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Logisim confirmed correct output for day, night, pedestrian, vehicle, emergency and manual cases.</a:t>
            </a:r>
            <a:endParaRPr lang="en-US" sz="1150" dirty="0"/>
          </a:p>
        </p:txBody>
      </p:sp>
      <p:sp>
        <p:nvSpPr>
          <p:cNvPr id="7" name="APPLICATIONS card"/>
          <p:cNvSpPr/>
          <p:nvPr/>
        </p:nvSpPr>
        <p:spPr>
          <a:xfrm>
            <a:off x="3246120" y="1143000"/>
            <a:ext cx="2651760" cy="292608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234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APPLICATIONS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1554480"/>
            <a:ext cx="23774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Smart city streets and highways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Campus, residential and industrial roads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Parking lots and public parks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Energy-saving, low-maintenance lighting</a:t>
            </a:r>
            <a:endParaRPr lang="en-US" sz="1150" dirty="0"/>
          </a:p>
        </p:txBody>
      </p:sp>
      <p:sp>
        <p:nvSpPr>
          <p:cNvPr id="10" name="POSSIBLE IMPROVEMENTS card"/>
          <p:cNvSpPr/>
          <p:nvPr/>
        </p:nvSpPr>
        <p:spPr>
          <a:xfrm>
            <a:off x="6035040" y="1143000"/>
            <a:ext cx="2651760" cy="292608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72200" y="1234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POSSIBLE IMPROVEMENTS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1554480"/>
            <a:ext cx="23774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Add LDR / IR / ultrasonic sensors for real inputs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Expand to multi-zone outputs (Zone 1–3)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Add dimming levels and timers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IoT monitoring and solar power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/>
                </a:solidFill>
              </a:rPr>
              <a:t>Thank you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DCA Dark">
  <a:themeElements>
    <a:clrScheme name="DDCA Dark">
      <a:dk1>
        <a:srgbClr val="F0F4F8"/>
      </a:dk1>
      <a:lt1>
        <a:srgbClr val="0D121B"/>
      </a:lt1>
      <a:dk2>
        <a:srgbClr val="A5B1BE"/>
      </a:dk2>
      <a:lt2>
        <a:srgbClr val="181F2B"/>
      </a:lt2>
      <a:accent1>
        <a:srgbClr val="32D2DC"/>
      </a:accent1>
      <a:accent2>
        <a:srgbClr val="2D3746"/>
      </a:accent2>
      <a:accent3>
        <a:srgbClr val="F5A623"/>
      </a:accent3>
      <a:accent4>
        <a:srgbClr val="1FA83A"/>
      </a:accent4>
      <a:accent5>
        <a:srgbClr val="7C8CA0"/>
      </a:accent5>
      <a:accent6>
        <a:srgbClr val="E05A5A"/>
      </a:accent6>
      <a:hlink>
        <a:srgbClr val="32D2DC"/>
      </a:hlink>
      <a:folHlink>
        <a:srgbClr val="A5B1BE"/>
      </a:folHlink>
    </a:clrScheme>
    <a:fontScheme name="DDCA Dark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611</Words>
  <Application>Microsoft Office PowerPoint</Application>
  <PresentationFormat>On-screen Show (16:9)</PresentationFormat>
  <Paragraphs>100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DDCA Dark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Automatic Street Light Control System – DDCA</dc:title>
  <dc:subject>PptxGenJS Presentation</dc:subject>
  <dc:creator>PptxGenJS</dc:creator>
  <cp:lastModifiedBy>srishouri45@outlook.com</cp:lastModifiedBy>
  <cp:revision>2</cp:revision>
  <dcterms:created xsi:type="dcterms:W3CDTF">2026-10-15T07:00:53Z</dcterms:created>
  <dcterms:modified xsi:type="dcterms:W3CDTF">2026-10-15T07:18:43Z</dcterms:modified>
</cp:coreProperties>
</file>